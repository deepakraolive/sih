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310896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766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0F172A"/>
                </a:solidFill>
              </a:rPr>
              <a:t>Gram</a:t>
            </a:r>
            <a:r>
              <a:rPr sz="5600" b="1">
                <a:solidFill>
                  <a:srgbClr val="0084D1"/>
                </a:solidFill>
              </a:rPr>
              <a:t>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84D1"/>
                </a:solidFill>
              </a:defRPr>
            </a:pPr>
            <a:r>
              <a:t>The Rural Decision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6766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i="1">
                <a:solidFill>
                  <a:srgbClr val="475569"/>
                </a:solidFill>
              </a:defRPr>
            </a:pPr>
            <a:r>
              <a:t>"Know your market, your competition, and your capital — before you invest a single rupee."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6583680" cy="2834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Problem Statement:</a:t>
            </a:r>
          </a:p>
          <a:p>
            <a:pPr>
              <a:spcAft>
                <a:spcPts val="1000"/>
              </a:spcAft>
              <a:defRPr sz="1200" b="1">
                <a:solidFill>
                  <a:srgbClr val="0084D1"/>
                </a:solidFill>
              </a:defRPr>
            </a:pPr>
            <a:r>
              <a:t>AI-Driven Hyper-Local Business Advisory and Financial Structuring Assistant for Rural Micro-Entrepreneurs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Theme: Rural Entrepreneurship &amp; Market Intelligence | MSME &amp; Agri-Business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Problem Statement ID: 26091 (Software Edition)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Presented By: Team GramVest | Round 1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005840"/>
            <a:ext cx="3749039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008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100" b="1">
                <a:solidFill>
                  <a:srgbClr val="0084D1"/>
                </a:solidFill>
              </a:defRPr>
            </a:pPr>
            <a:r>
              <a:t>CORE INNOVATION: DUAL-ENGINE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✔  Hyper-Local 5–10km Catchment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   Evaluates consumer base and distribution channels around the village.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✔  Competitor Density Radar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   Identifies existing businesses to prevent sudden local market saturation.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✔  10% / 90% Scheme Structuring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   Automatically calculates Project Cost (Margin/10%) and 90% loan eligibility.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✔  Micro Finance vs. Term Loan Router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   Deterministic routing: Micro Finance (6.5%) vs Term Loan (8.0%).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✔  Quarterly EMI &amp; Moratorium Math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   Computes debt schedule with 3-month or 6-month moratorium.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✔  Bank-Ready DPR Dossier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   One-click generation of Detailed Project Report for bank sanction.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468880" cy="292608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369A1"/>
                </a:solidFill>
              </a:defRPr>
            </a:pPr>
            <a:r>
              <a:t>SIH 2026 · PS ID: 26091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65760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GramVest | Team GramVest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State Channelizing Agencies provide 90% concessional credit with only 10% margin, but rural micro-enterprises face high failure rates due to lack of local market visibility and financial illiteracy.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GramVest: The Rural Decision Engine                                                                                                   Slide 2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6032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84D1"/>
                </a:solidFill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350" b="1">
                <a:solidFill>
                  <a:srgbClr val="0F172A"/>
                </a:solidFill>
              </a:defRPr>
            </a:pPr>
            <a:r>
              <a:t>No Local Market Visibility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Urban research tools ignore villages.</a:t>
            </a:r>
            <a:br/>
            <a:r>
              <a:t>• Prospective entrepreneurs cannot estimate 5–10km catchment demand.</a:t>
            </a:r>
            <a:br/>
            <a:r>
              <a:t>• Lack of data on purchasing power and fair local pricing.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6032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84D1"/>
                </a:solidFill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350" b="1">
                <a:solidFill>
                  <a:srgbClr val="0F172A"/>
                </a:solidFill>
              </a:defRPr>
            </a:pPr>
            <a:r>
              <a:t>Invisible Competition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Businesses chosen based on anecdotal hearsay.</a:t>
            </a:r>
            <a:br/>
            <a:r>
              <a:t>• Multiple identical copycat shops open on the same lane.</a:t>
            </a:r>
            <a:br/>
            <a:r>
              <a:t>• Triggers instant market saturation, price wars, and collapse.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84D1"/>
                </a:solidFill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350" b="1">
                <a:solidFill>
                  <a:srgbClr val="0F172A"/>
                </a:solidFill>
              </a:defRPr>
            </a:pPr>
            <a:r>
              <a:t>Financing is Confusing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10% equity / 90% debt calculations are intimidating.</a:t>
            </a:r>
            <a:br/>
            <a:r>
              <a:t>• Confusion between Micro Finance (≤ ₹1.4L @ 6.5%) vs. Term Loan (≤ ₹50L @ 8%).</a:t>
            </a:r>
            <a:br/>
            <a:r>
              <a:t>• Moratorium math and bank DPR filing are major hurdles.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6032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84D1"/>
                </a:solidFill>
              </a:defRPr>
            </a:pPr>
            <a:r>
              <a:t>04</a:t>
            </a:r>
          </a:p>
          <a:p>
            <a:pPr>
              <a:spcAft>
                <a:spcPts val="1000"/>
              </a:spcAft>
              <a:defRPr sz="1350" b="1">
                <a:solidFill>
                  <a:srgbClr val="0F172A"/>
                </a:solidFill>
              </a:defRPr>
            </a:pPr>
            <a:r>
              <a:t>High Failure, Zero Guidance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Over 60% of rural micro-enterprises fail in Year 1.</a:t>
            </a:r>
            <a:br/>
            <a:r>
              <a:t>• Private business consultancies charge ₹15,000–₹50,000+.</a:t>
            </a:r>
            <a:br/>
            <a:r>
              <a:t>• Zero accessible, affordable guidance for marginalized youth.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61888"/>
            <a:ext cx="10698480" cy="3200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91C1C"/>
                </a:solidFill>
              </a:defRPr>
            </a:pPr>
            <a:r>
              <a:t>CORE BOTTLENECK: Capital is available via SCAs and CAs, but institutional-grade feasibility intelligence has never reached the village doorstep.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468880" cy="292608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369A1"/>
                </a:solidFill>
              </a:defRPr>
            </a:pPr>
            <a:r>
              <a:t>SIH 2026 · PS ID: 26091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65760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GramVest | Team GramVest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GramVest turns 3 basic user inputs into a comprehensive hyper-local feasibility report and bank-ready financial roadmap in under 5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GramVest: The Rural Decision Engine                                                                                                   Slide 3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0512"/>
            <a:ext cx="1069848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STEP 1: User Inputs (Village, Margin Capital, Trade)   ➔   STEP 2: Dual-Engine Spatial &amp; Financial Analysis   ➔   STEP 3: Bank-Ready Verdict &amp; DPR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52120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008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50" b="1">
                <a:solidFill>
                  <a:srgbClr val="0084D1"/>
                </a:solidFill>
              </a:defRPr>
            </a:pPr>
            <a:r>
              <a:t>MODULE 1: HYPER-LOCAL FEASIBILITY REPORT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Market Reach: Estimates 5–10km radial consumer base and primary distribution channels.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Opportunity Analysis: Highlights unserved or underserved niches in the chosen sector.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Evidence-Based SWOT: Objective strengths, weaknesses, opportunities &amp; threats tailored to budget.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Threats Identification: Pinpoints supply bottlenecks, seasonal swings, and single-buyer risk.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Competitor Mapping: Uses demographic &amp; OSM data to estimate density of existing similar shops.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Product Market Value: Suggests optimal pricing strategies matching regional purchasing power.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2120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50" b="1">
                <a:solidFill>
                  <a:srgbClr val="059669"/>
                </a:solidFill>
              </a:defRPr>
            </a:pPr>
            <a:r>
              <a:t>MODULE 2: SMART SCHEME CALCULATOR &amp; ROUTER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Financial Structuring: Project Cost = Margin / 10%. Max Loan = 90% of Project Cost. (e.g. ₹1,00,000 margin enables ₹10,00,000 project &amp; ₹9,00,000 loan).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Scheme Auto-Selection: Deterministic rule-based routing to the exact concessional loan: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       - Micro Finance Scheme: Project Cost ≤ ₹1.40 Lakh: 6.5% interest p.a., 3-yr tenure, 3-mo moratorium.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       - Term Loan Scheme: Project Cost ₹1.40L to ₹50 Lakh: 8.0% interest p.a., 7-yr tenure, 6-mo moratorium.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EMI &amp; Moratorium Schedule: Generates quarterly repayment schedules, operational costs, and working capital.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 Bank-Ready DPR Dossier: One-click Detailed Project Report download for immediate bank appraisal.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468880" cy="292608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369A1"/>
                </a:solidFill>
              </a:defRPr>
            </a:pPr>
            <a:r>
              <a:t>SIH 2026 · PS ID: 26091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65760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GramVest | Team GramVest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Flow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End-to-end operational decision flow from user inputs to bank-sanctionable feasibility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GramVest: The Rural Decision Engine                                                                                                   Slide 4 of 7</a:t>
            </a:r>
          </a:p>
        </p:txBody>
      </p:sp>
      <p:pic>
        <p:nvPicPr>
          <p:cNvPr id="7" name="Picture 6" descr="FlowChar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10512"/>
            <a:ext cx="5120640" cy="52697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1810512"/>
            <a:ext cx="5303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50" b="1">
                <a:solidFill>
                  <a:srgbClr val="0F172A"/>
                </a:solidFill>
              </a:defRPr>
            </a:pPr>
            <a:r>
              <a:t>BUSINESS ANALYSIS &amp; DECISION FLOW</a:t>
            </a:r>
          </a:p>
          <a:p>
            <a:pPr>
              <a:defRPr sz="1050" b="1">
                <a:solidFill>
                  <a:srgbClr val="0084D1"/>
                </a:solidFill>
              </a:defRPr>
            </a:pPr>
            <a:r>
              <a:t>✔  1. User Input Layer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  Collects village location, available margin capital, and proposed business.</a:t>
            </a:r>
          </a:p>
          <a:p>
            <a:pPr>
              <a:defRPr sz="1050" b="1">
                <a:solidFill>
                  <a:srgbClr val="0084D1"/>
                </a:solidFill>
              </a:defRPr>
            </a:pPr>
            <a:r>
              <a:t>✔  2. Data Engine &amp; GIS Ingestion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  Pulls 5–10km catchment, demographics, and mandi commodity rates.</a:t>
            </a:r>
          </a:p>
          <a:p>
            <a:pPr>
              <a:defRPr sz="1050" b="1">
                <a:solidFill>
                  <a:srgbClr val="0084D1"/>
                </a:solidFill>
              </a:defRPr>
            </a:pPr>
            <a:r>
              <a:t>✔  3. Feasibility &amp; Threat Engine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  Evaluates market saturation, competitor density, and evidence-based SWOT.</a:t>
            </a:r>
          </a:p>
          <a:p>
            <a:pPr>
              <a:defRPr sz="1050" b="1">
                <a:solidFill>
                  <a:srgbClr val="0084D1"/>
                </a:solidFill>
              </a:defRPr>
            </a:pPr>
            <a:r>
              <a:t>✔  4. Deterministic Financial Engine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  Calculates Project Cost, 90% Loan, quarterly EMI, cash flow, and DSCR.</a:t>
            </a:r>
          </a:p>
          <a:p>
            <a:pPr>
              <a:defRPr sz="1050" b="1">
                <a:solidFill>
                  <a:srgbClr val="0084D1"/>
                </a:solidFill>
              </a:defRPr>
            </a:pPr>
            <a:r>
              <a:t>✔  5. Scheme Router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  Matches Micro Finance (≤ ₹1.4L @ 6.5%) or Term Loan (≤ ₹50L @ 8%).</a:t>
            </a:r>
          </a:p>
          <a:p>
            <a:pPr>
              <a:defRPr sz="1050" b="1">
                <a:solidFill>
                  <a:srgbClr val="0084D1"/>
                </a:solidFill>
              </a:defRPr>
            </a:pPr>
            <a:r>
              <a:t>✔  6. Grounded AI Advisor &amp; RAG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  Explains insights in local vernacular via RAG over official scheme gazettes.</a:t>
            </a:r>
          </a:p>
          <a:p>
            <a:pPr>
              <a:defRPr sz="1050" b="1">
                <a:solidFill>
                  <a:srgbClr val="0084D1"/>
                </a:solidFill>
              </a:defRPr>
            </a:pPr>
            <a:r>
              <a:t>✔  7. Final DPR &amp; Action Roadmap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     Generates official bank-ready Detailed Project Report for loan sanctioning.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468880" cy="292608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369A1"/>
                </a:solidFill>
              </a:defRPr>
            </a:pPr>
            <a:r>
              <a:t>SIH 2026 · PS ID: 26091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65760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GramVest | Team GramVest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Deterministic software core + grounded AI layer. Golden Engineering Rule: 'AI explains; software calculates.' Zero financial hallucinations.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GramVest: The Rural Decision Engine                                                                                                   Slide 5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0512"/>
            <a:ext cx="347472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Frontend &amp; UI</a:t>
            </a:r>
          </a:p>
          <a:p>
            <a:pPr>
              <a:spcAft>
                <a:spcPts val="1200"/>
              </a:spcAft>
              <a:defRPr sz="1000" b="1">
                <a:solidFill>
                  <a:srgbClr val="0084D1"/>
                </a:solidFill>
              </a:defRPr>
            </a:pPr>
            <a:r>
              <a:t>React.js &amp; Tailwind CSS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 Mobile-First Design: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   Responsive dashboard optimized for low-bandwidth rural smartphone users.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 GIS Catchment Maps: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   Leaflet &amp; Mapbox for 5–10 km radial catchment boundary visualization.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 Guided Setup Wizard: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   Simple 3-step input requiring zero prior business experience.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 Multilingual Ready: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   Interface architecture built for instant vernacular translation.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10512"/>
            <a:ext cx="347472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Backend &amp; Financials</a:t>
            </a:r>
          </a:p>
          <a:p>
            <a:pPr>
              <a:spcAft>
                <a:spcPts val="1200"/>
              </a:spcAft>
              <a:defRPr sz="1000" b="1">
                <a:solidFill>
                  <a:srgbClr val="0084D1"/>
                </a:solidFill>
              </a:defRPr>
            </a:pPr>
            <a:r>
              <a:t>FastAPI &amp; Python Math Core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 Deterministic Finance: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   Python Decimal &amp; NumPy for 100% audit-proof loan, EMI, and DSCR math.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 Versioned Scheme Rules: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   Policy-driven JSON rules for Micro Finance and Term Loan parameters.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 Asynchronous APIs: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   FastAPI backend handles concurrent requests with sub-second latency.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 DPR PDF Engine: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   ReportLab integration to generate official, bank-ready PDF dossiers.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10512"/>
            <a:ext cx="347472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AI, GIS &amp; Data Layer</a:t>
            </a:r>
          </a:p>
          <a:p>
            <a:pPr>
              <a:spcAft>
                <a:spcPts val="1200"/>
              </a:spcAft>
              <a:defRPr sz="1000" b="1">
                <a:solidFill>
                  <a:srgbClr val="0084D1"/>
                </a:solidFill>
              </a:defRPr>
            </a:pPr>
            <a:r>
              <a:t>PostgreSQL, PostGIS &amp; RAG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 Geospatial Database: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   PostgreSQL + PostGIS for spatial queries and competitor clustering.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 Semantic Vector Search: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   pgvector and FAISS for RAG over verified official scheme gazettes.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 Numerical Guardrails: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   Strict verification layer ensures LLM never invents loan numbers or rates.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 External Feeds: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   OpenStreetMap Overpass API and Agmarknet Mandi wholesale price feeds.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61888"/>
            <a:ext cx="1069848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CORE ENGINEERING PRINCIPLE: 'AI explains; software calculates.' Generative AI never computes financial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468880" cy="292608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369A1"/>
                </a:solidFill>
              </a:defRPr>
            </a:pPr>
            <a:r>
              <a:t>SIH 2026 · PS ID: 26091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65760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GramVest | Team GramVest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Strategic roadmap to scale GramVest from a hackathon prototype into national digital public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GramVest: The Rural Decision Engine                                                                                                   Slide 6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6032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000" b="1">
                <a:solidFill>
                  <a:srgbClr val="0084D1"/>
                </a:solidFill>
              </a:defRPr>
            </a:pPr>
            <a:r>
              <a:t>Phase 1: Near Term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Vernacular Voice AI (Bhashini)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Integration with GoI's Bhashini voice engine.</a:t>
            </a:r>
            <a:br/>
            <a:r>
              <a:t>• Voice-in and voice-out in Hindi, Punjabi, Marathi, Tamil &amp; Bengali.</a:t>
            </a:r>
            <a:br/>
            <a:r>
              <a:t>• Removes digital &amp; textual literacy barriers for rural artisans and women SHGs.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6032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000" b="1">
                <a:solidFill>
                  <a:srgbClr val="0084D1"/>
                </a:solidFill>
              </a:defRPr>
            </a:pPr>
            <a:r>
              <a:t>Phase 2: Strategic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Direct Bank &amp; SCA API Integration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Direct digital connectivity with State Channelizing Agencies (SCAs) &amp; JanSamarth.</a:t>
            </a:r>
            <a:br/>
            <a:r>
              <a:t>• Enables 1-click digital loan application submission.</a:t>
            </a:r>
            <a:br/>
            <a:r>
              <a:t>• Real-time digital sanction and disbursement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000" b="1">
                <a:solidFill>
                  <a:srgbClr val="0084D1"/>
                </a:solidFill>
              </a:defRPr>
            </a:pPr>
            <a:r>
              <a:t>Phase 3: Intelligence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Satellite &amp; IoT Agro Data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Ingesting ISRO Bhuvan &amp; Copernicus satellite imagery.</a:t>
            </a:r>
            <a:br/>
            <a:r>
              <a:t>• Real-time soil health, crop cycles, and mandi demand spikes.</a:t>
            </a:r>
            <a:br/>
            <a:r>
              <a:t>• Powers precision agro-processing feasibility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6032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000" b="1">
                <a:solidFill>
                  <a:srgbClr val="0084D1"/>
                </a:solidFill>
              </a:defRPr>
            </a:pPr>
            <a:r>
              <a:t>Phase 4: Sustainability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Post-Sanction WhatsApp Bot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Continuous lightweight WhatsApp micro-advisory.</a:t>
            </a:r>
            <a:br/>
            <a:r>
              <a:t>• Quarterly repayment reminders and cash-flow health checks.</a:t>
            </a:r>
            <a:br/>
            <a:r>
              <a:t>• Seasonal price warnings to actively prevent business defaults.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61888"/>
            <a:ext cx="1069848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5F46"/>
                </a:solidFill>
              </a:defRPr>
            </a:pPr>
            <a:r>
              <a:t>MISSION: Transforming rural entrepreneurship from anecdotal guesswork into data-driven conviction across 600,000+ Indian villages.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468880" cy="292608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369A1"/>
                </a:solidFill>
              </a:defRPr>
            </a:pPr>
            <a:r>
              <a:t>SIH 2026 · PS ID: 26091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65760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GramVest | Team GramVest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Impact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GramVest replaces weeks of anecdotal guesswork with minutes of institutional-grade financial clarity, empowering marginalized entrepreneurs and protecting public capital.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GramVest: The Rural Decision Engine                                                                                                   Slide 7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603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84D1"/>
                </a:solidFill>
              </a:defRPr>
            </a:pPr>
            <a:r>
              <a:t>65%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Rural Population Reach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Designed to scale across all 6,00,000+ Indian villages at near-zero marginal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603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84D1"/>
                </a:solidFill>
              </a:defRPr>
            </a:pPr>
            <a:r>
              <a:t>Weeks ➔ 5m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Time to Feasibility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Slashes business feasibility assessment from 3 weeks of manual inquiry to under 5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84D1"/>
                </a:solidFill>
              </a:defRPr>
            </a:pPr>
            <a:r>
              <a:t>₹0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Consulting Cost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Replaces expensive ₹15,000–₹50,000 consultants with free, institutional-grade AI advisory.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603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84D1"/>
                </a:solidFill>
              </a:defRPr>
            </a:pPr>
            <a:r>
              <a:t>90% : 10%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Scheme Clarity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Exact debt-equity structuring, eliminating surprise shortfalls and bank rejections.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10698480" cy="2011680"/>
          </a:xfrm>
          <a:prstGeom prst="roundRect">
            <a:avLst/>
          </a:prstGeom>
          <a:solidFill>
            <a:srgbClr val="0084D1"/>
          </a:solidFill>
          <a:ln>
            <a:solidFill>
              <a:srgbClr val="008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t>"Every village has a market. GramVest helps rural India see it clearly."</a:t>
            </a:r>
          </a:p>
          <a:p>
            <a:pPr algn="ctr">
              <a:spcAft>
                <a:spcPts val="1600"/>
              </a:spcAft>
              <a:defRPr sz="1400">
                <a:solidFill>
                  <a:srgbClr val="FFFFFF"/>
                </a:solidFill>
              </a:defRPr>
            </a:pPr>
            <a:r>
              <a:t>Ready to empower the next 10 million rural micro-enterprises with data-backed conviction.</a:t>
            </a:r>
          </a:p>
          <a:p>
            <a:pPr algn="ctr">
              <a:defRPr sz="1300" b="1">
                <a:solidFill>
                  <a:srgbClr val="E0F2FE"/>
                </a:solidFill>
              </a:defRPr>
            </a:pPr>
            <a:r>
              <a:t>Team GramVest · Smart India Hackathon 2026 ·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