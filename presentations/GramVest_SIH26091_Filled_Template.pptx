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870" y="1219200"/>
            <a:ext cx="10252129" cy="4963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–26091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AI-Driven Hyper-Local Business Advisory and Financial Structuring 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Assistant for Rural Micro-Entrepreneurs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	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Agriculture, Food Tech &amp; Rural Development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ID-SIH-S-B2-107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404 FOUND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2D664C"/>
                </a:solidFill>
                <a:latin typeface="Aptos"/>
              </a:rPr>
              <a:t>GramVest — Hyper-Local Business Advisory &amp; Financial Structuring Assistant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48640" y="1993392"/>
            <a:ext cx="109728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202220"/>
                </a:solidFill>
                <a:latin typeface="Aptos"/>
              </a:rPr>
              <a:t>PROPOSED SOLUTION</a:t>
            </a:r>
            <a:br/>
            <a:r>
              <a:t>• A feasibility-first decision-support platform for rural &amp; small-town entrepreneurs.</a:t>
            </a:r>
            <a:br/>
            <a:r>
              <a:t>• Inputs: village/block/district, available margin capital and business category.</a:t>
            </a:r>
            <a:br/>
            <a:r>
              <a:t>• Combines local market intelligence, competitor mapping, opportunity/risk analysis and deterministic financial structuring.</a:t>
            </a:r>
            <a:br/>
            <a:r>
              <a:t>• Automatically maps available margin → feasible project cost → maximum financing → scheme route → repayment plan.</a:t>
            </a:r>
            <a:br/>
            <a:r>
              <a:t>• Generates a grounded AI advisory layer and a Business Feasibility &amp; Loan Readiness Report.</a:t>
            </a:r>
            <a:br/>
            <a:br/>
            <a:r>
              <a:t>HOW IT ADDRESSES THE PROBLEM</a:t>
            </a:r>
            <a:br/>
            <a:r>
              <a:t>• Replaces anecdotal business selection with location-aware evidence.</a:t>
            </a:r>
            <a:br/>
            <a:r>
              <a:t>• Makes loan structure, EMI, cash flow and DSCR understandable before borrowing.</a:t>
            </a:r>
            <a:br/>
            <a:r>
              <a:t>• Shows assumptions, source/date and confidence instead of presenting estimates as facts.</a:t>
            </a:r>
            <a:br/>
            <a:br/>
            <a:r>
              <a:t>INNOVATION &amp; UNIQUENESS</a:t>
            </a:r>
            <a:br/>
            <a:r>
              <a:t>Location + Market + Finance + AI in one workflow; AI explains, while software calculates authoritative financial outputs.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B084EFB-5FD6-919B-64DC-0F3B7B7F55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404 FOUND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85800" y="1353312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02220"/>
                </a:solidFill>
                <a:latin typeface="Aptos"/>
              </a:rPr>
              <a:t>TECHNOLOGIES</a:t>
            </a:r>
            <a:br/>
            <a:r>
              <a:t>Next.js • React • TypeScript • Tailwind</a:t>
            </a:r>
            <a:br/>
            <a:r>
              <a:t>Python • FastAPI • PostgreSQL</a:t>
            </a:r>
            <a:br/>
            <a:r>
              <a:t>PostGIS • pgvector • pandas • scikit-learn</a:t>
            </a:r>
            <a:br/>
            <a:r>
              <a:t>Leaflet + OpenStreetMap • Recharts</a:t>
            </a:r>
            <a:br/>
            <a:r>
              <a:t>ReportLab • Docker • GitHub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263640" y="1353312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02220"/>
                </a:solidFill>
                <a:latin typeface="Aptos"/>
              </a:rPr>
              <a:t>AI / RAG</a:t>
            </a:r>
            <a:br/>
            <a:r>
              <a:t>LLM + retrieval from verified documents</a:t>
            </a:r>
            <a:br/>
            <a:r>
              <a:t>Grounded prompts + guardrails</a:t>
            </a:r>
            <a:br/>
            <a:r>
              <a:t>Multilingual explanation</a:t>
            </a:r>
            <a:br/>
            <a:r>
              <a:t>No LLM-generated financial calculations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85800" y="2907792"/>
            <a:ext cx="10652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02220"/>
                </a:solidFill>
                <a:latin typeface="Aptos"/>
              </a:rPr>
              <a:t>IMPLEMENTATION FLOW</a:t>
            </a:r>
            <a:br/>
            <a:r>
              <a:t>PROFILE &amp; LOCATION → BUSINESS &amp; CAPITAL → 5–10 km GEO ANALYSIS</a:t>
            </a:r>
            <a:br/>
            <a:r>
              <a:t>→ MARKET &amp; COMPETITORS → OPPORTUNITY + SWOT/RISK</a:t>
            </a:r>
            <a:br/>
            <a:r>
              <a:t>→ VIABILITY SCORE → PROJECT COST + LOAN STRUCTURE</a:t>
            </a:r>
            <a:br/>
            <a:r>
              <a:t>→ SCHEME ROUTER → EMI / CASH FLOW / DSCR</a:t>
            </a:r>
            <a:br/>
            <a:r>
              <a:t>→ GROUNDED AI ADVISOR → WHAT-IF → DPR / FEASIBILITY REPORT</a:t>
            </a:r>
            <a:br/>
            <a:br/>
            <a:r>
              <a:t>DATA FLOW</a:t>
            </a:r>
            <a:br/>
            <a:r>
              <a:t>Official/open sources → raw data → validation → PostgreSQL/PostGIS</a:t>
            </a:r>
            <a:br/>
            <a:r>
              <a:t>→ deterministic engines → explainable outputs → user dashboard.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4F40158-07C4-8ADC-ADD6-AD3F9E7F5F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404 FOUND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85800" y="1298448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02220"/>
                </a:solidFill>
                <a:latin typeface="Aptos"/>
              </a:rPr>
              <a:t>FEASIBILITY</a:t>
            </a:r>
            <a:br/>
            <a:r>
              <a:t>• Software-only architecture; uses mature open-source components.</a:t>
            </a:r>
            <a:br/>
            <a:r>
              <a:t>• Punjab-first pilot with 10+ districts and reusable business templates.</a:t>
            </a:r>
            <a:br/>
            <a:r>
              <a:t>• Core calculations are deterministic and unit-testable.</a:t>
            </a:r>
            <a:br/>
            <a:r>
              <a:t>• Data provenance, confidence and historical/current labels reduce unsupported claims.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2743200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6523A"/>
                </a:solidFill>
                <a:latin typeface="Aptos"/>
              </a:rPr>
              <a:t>POTENTIAL CHALLENGES &amp; RISKS</a:t>
            </a:r>
            <a:br/>
            <a:r>
              <a:t>• Village-level business data may be incomplete.</a:t>
            </a:r>
            <a:br/>
            <a:r>
              <a:t>• Census data may be historical.</a:t>
            </a:r>
            <a:br/>
            <a:r>
              <a:t>• Map/competitor coverage is not exhaustive.</a:t>
            </a:r>
            <a:br/>
            <a:r>
              <a:t>• Scheme rules can change.</a:t>
            </a:r>
            <a:br/>
            <a:r>
              <a:t>• AI may overstate conclusions if grounding is weak.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80760" y="2743200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664C"/>
                </a:solidFill>
                <a:latin typeface="Aptos"/>
              </a:rPr>
              <a:t>MITIGATION</a:t>
            </a:r>
            <a:br/>
            <a:r>
              <a:t>• Source + date + confidence on important data.</a:t>
            </a:r>
            <a:br/>
            <a:r>
              <a:t>• Clearly label historical / estimated / unavailable values.</a:t>
            </a:r>
            <a:br/>
            <a:r>
              <a:t>• Use official datasets first; OSM only as supporting coverage.</a:t>
            </a:r>
            <a:br/>
            <a:r>
              <a:t>• Version scheme rules and documents.</a:t>
            </a:r>
            <a:br/>
            <a:r>
              <a:t>• AI abstention when evidence is missing.</a:t>
            </a:r>
            <a:br/>
            <a:r>
              <a:t>• Separate advisory output from official loan sanction.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85800" y="1298448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02220"/>
                </a:solidFill>
                <a:latin typeface="Aptos"/>
              </a:rPr>
              <a:t>TARGET AUDIENCE</a:t>
            </a:r>
            <a:br/>
            <a:r>
              <a:t>Rural and small-town first-time entrepreneurs, especially beneficiaries seeking concessional credit for income-generating activities.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2487168"/>
            <a:ext cx="5074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664C"/>
                </a:solidFill>
                <a:latin typeface="Aptos"/>
              </a:rPr>
              <a:t>POTENTIAL IMPACT</a:t>
            </a:r>
            <a:br/>
            <a:r>
              <a:t>• Better business selection using local evidence.</a:t>
            </a:r>
            <a:br/>
            <a:r>
              <a:t>• Reduced financial confusion before taking debt.</a:t>
            </a:r>
            <a:br/>
            <a:r>
              <a:t>• Clearer understanding of repayment obligations.</a:t>
            </a:r>
            <a:br/>
            <a:r>
              <a:t>• Earlier identification of market and operating risks.</a:t>
            </a:r>
            <a:br/>
            <a:r>
              <a:t>• More structured, loan-ready project planning.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080760" y="2487168"/>
            <a:ext cx="5074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02220"/>
                </a:solidFill>
                <a:latin typeface="Aptos"/>
              </a:rPr>
              <a:t>BENEFITS</a:t>
            </a:r>
            <a:br/>
            <a:r>
              <a:t>SOCIAL — accessible advisory for underserved entrepreneurs.</a:t>
            </a:r>
            <a:br/>
            <a:r>
              <a:t>ECONOMIC — stronger project planning and capital utilisation.</a:t>
            </a:r>
            <a:br/>
            <a:r>
              <a:t>FINANCIAL — transparent project cost, financing and repayment.</a:t>
            </a:r>
            <a:br/>
            <a:r>
              <a:t>TECHNOLOGY — reusable data + AI architecture for scale.</a:t>
            </a:r>
            <a:br/>
            <a:r>
              <a:t>ENVIRONMENTAL — supports resource-aware business planning through location and operating assumptions.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A201271-C2B9-0E1C-AA5F-6C24E6B8C1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2173" y="17514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404 FOUND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404 FOUND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85800" y="1234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D664C"/>
                </a:solidFill>
                <a:latin typeface="Aptos"/>
              </a:rPr>
              <a:t>RESEARCH &amp; REFERENCES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755648"/>
            <a:ext cx="106527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02220"/>
                </a:solidFill>
                <a:latin typeface="Aptos"/>
              </a:rPr>
              <a:t>1. Smart India Hackathon 2026 — Problem Statement 26091</a:t>
            </a:r>
            <a:br/>
            <a:r>
              <a:t>   “AI-Driven Hyper-Local Business Advisory and Financial Structuring Assistant for Rural Micro-Entrepreneurs”</a:t>
            </a:r>
            <a:br/>
            <a:r>
              <a:t>   Organization: Ministry of Social Justice and Empowerment (MoSJE)</a:t>
            </a:r>
            <a:br/>
            <a:br/>
            <a:r>
              <a:t>2. GramVest Team Implementation Blueprint</a:t>
            </a:r>
            <a:br/>
            <a:r>
              <a:t>   Architecture: Location + Market + Finance + AI</a:t>
            </a:r>
            <a:br/>
            <a:r>
              <a:t>   Modules: Geo/Market, Finance, Scheme Router, AI/RAG, DPR, What-If</a:t>
            </a:r>
            <a:br/>
            <a:br/>
            <a:r>
              <a:t>3. Punjab Open Government Data Portal</a:t>
            </a:r>
            <a:br/>
            <a:r>
              <a:t>   https://punjab.data.gov.in/</a:t>
            </a:r>
            <a:br/>
            <a:br/>
            <a:r>
              <a:t>4. Data.gov.in — UDYAM / MSME datasets</a:t>
            </a:r>
            <a:br/>
            <a:r>
              <a:t>   https://www.data.gov.in/</a:t>
            </a:r>
            <a:br/>
            <a:br/>
            <a:r>
              <a:t>5. AGMARKNET / Government market price data</a:t>
            </a:r>
            <a:br/>
            <a:r>
              <a:t>   https://agmarknet.gov.in/</a:t>
            </a:r>
            <a:br/>
            <a:br/>
            <a:r>
              <a:t>6. OpenStreetMap</a:t>
            </a:r>
            <a:br/>
            <a:r>
              <a:t>   https://www.openstreetmap.org/</a:t>
            </a:r>
            <a:br/>
            <a:br/>
            <a:r>
              <a:t>DATA TRUST NOTE</a:t>
            </a:r>
            <a:br/>
            <a:r>
              <a:t>Public datasets are used with source/date/provenance. Historical datasets are labelled by source year; unavailable local facts are not presented as verified ground truth.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7552</TotalTime>
  <Words>901</Words>
  <Application>Microsoft Office PowerPoint</Application>
  <PresentationFormat>Widescreen</PresentationFormat>
  <Paragraphs>48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RamaShankar Singh</cp:lastModifiedBy>
  <cp:revision>149</cp:revision>
  <dcterms:created xsi:type="dcterms:W3CDTF">2013-12-12T18:46:50Z</dcterms:created>
  <dcterms:modified xsi:type="dcterms:W3CDTF">2026-09-15T07:30:04Z</dcterms:modified>
  <cp:category/>
</cp:coreProperties>
</file>